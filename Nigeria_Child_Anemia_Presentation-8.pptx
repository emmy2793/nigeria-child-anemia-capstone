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52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ARE NIGERIAN CHILDREN ANEMIC?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822960" y="3246120"/>
            <a:ext cx="932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look at the household factors linked to child anemia in Nigeria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22960" y="4023360"/>
            <a:ext cx="1188720" cy="36576"/>
          </a:xfrm>
          <a:prstGeom prst="rect">
            <a:avLst/>
          </a:prstGeom>
          <a:solidFill>
            <a:srgbClr val="01B8A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429768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9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  </a:t>
            </a:r>
            <a:pPr indent="0" marL="0">
              <a:buNone/>
            </a:pPr>
            <a:r>
              <a:rPr lang="en-US" sz="1300" dirty="0">
                <a:solidFill>
                  <a:srgbClr val="252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 Nigeria Demographic and Health Survey (NDHS)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4626864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9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 </a:t>
            </a:r>
            <a:pPr indent="0" marL="0">
              <a:buNone/>
            </a:pPr>
            <a:r>
              <a:rPr lang="en-US" sz="1300" dirty="0">
                <a:solidFill>
                  <a:srgbClr val="252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NGO / Government Maternal &amp; Child Health Planning Team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5989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IHIFIX Data Analytics and AI Course — Capstone Project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62362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Emmanuel Ojima Egbunu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01B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52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Out Which Children Are Most at Risk — and Why It Happens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9436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1B8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325880" y="1764792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52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strongest risk factors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325880" y="2112264"/>
            <a:ext cx="9784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3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household and socioeconomic factors are most strongly linked to childhood anemia in Nigeria?</a:t>
            </a:r>
            <a:endParaRPr lang="en-US" sz="1230" dirty="0"/>
          </a:p>
        </p:txBody>
      </p:sp>
      <p:sp>
        <p:nvSpPr>
          <p:cNvPr id="7" name="Text 5"/>
          <p:cNvSpPr/>
          <p:nvPr/>
        </p:nvSpPr>
        <p:spPr>
          <a:xfrm>
            <a:off x="594360" y="28072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1B8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25880" y="278892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52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the size of each gap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325880" y="3136392"/>
            <a:ext cx="9784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3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whether a factor matters, but by how much — so programmes can prioritise correctly.</a:t>
            </a:r>
            <a:endParaRPr lang="en-US" sz="1230" dirty="0"/>
          </a:p>
        </p:txBody>
      </p:sp>
      <p:sp>
        <p:nvSpPr>
          <p:cNvPr id="10" name="Text 8"/>
          <p:cNvSpPr/>
          <p:nvPr/>
        </p:nvSpPr>
        <p:spPr>
          <a:xfrm>
            <a:off x="594360" y="38313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1B8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325880" y="3813048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52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findings into action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325880" y="4160520"/>
            <a:ext cx="9784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3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the data into a concrete, targetable recommendation for health planners.</a:t>
            </a:r>
            <a:endParaRPr lang="en-US" sz="1230" dirty="0"/>
          </a:p>
        </p:txBody>
      </p:sp>
      <p:sp>
        <p:nvSpPr>
          <p:cNvPr id="13" name="Shape 11"/>
          <p:cNvSpPr/>
          <p:nvPr/>
        </p:nvSpPr>
        <p:spPr>
          <a:xfrm>
            <a:off x="594360" y="4946904"/>
            <a:ext cx="10881360" cy="0"/>
          </a:xfrm>
          <a:prstGeom prst="line">
            <a:avLst/>
          </a:prstGeom>
          <a:noFill/>
          <a:ln w="9525">
            <a:solidFill>
              <a:srgbClr val="E1DF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5129784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 already tracks anemia nationally, and the number alone (68.8%) is high — but the more useful finding is where that risk concentrates. That's what the rest of this deck focuses on.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 NDHS  ·  Nigeria Child Anemia Analysis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64305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01B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2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Nigeria's Largest Health Survey to Study Child Anemia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19202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52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this covers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94360" y="228600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aged 0–59 months and their mothers (aged 15–49), sampled from households across Nigeria.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34290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52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data was used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94360" y="3794760"/>
            <a:ext cx="5394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2018 Nigeria Demographic and Health Survey (NDHS) — a nationally representative household survey covering all 36 states plus the FCT, pairing hemoglobin (anemia) testing with rich household detail.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54864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9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and how it was analysed  →  next slide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0" y="1874520"/>
            <a:ext cx="5257800" cy="1234440"/>
          </a:xfrm>
          <a:prstGeom prst="rect">
            <a:avLst/>
          </a:prstGeom>
          <a:solidFill>
            <a:srgbClr val="F3F2F1"/>
          </a:solidFill>
          <a:ln w="9525">
            <a:solidFill>
              <a:srgbClr val="E1DF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0" y="1965960"/>
            <a:ext cx="2011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1B8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33,924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8595360" y="1965960"/>
            <a:ext cx="2834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52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survey records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0" y="3291840"/>
            <a:ext cx="5257800" cy="1234440"/>
          </a:xfrm>
          <a:prstGeom prst="rect">
            <a:avLst/>
          </a:prstGeom>
          <a:solidFill>
            <a:srgbClr val="F3F2F1"/>
          </a:solidFill>
          <a:ln w="9525">
            <a:solidFill>
              <a:srgbClr val="E1DF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3383280"/>
            <a:ext cx="2011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1B8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10,182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595360" y="3383280"/>
            <a:ext cx="2834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52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with a hemoglobin test result — the analysis sample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0" y="4709160"/>
            <a:ext cx="5257800" cy="1234440"/>
          </a:xfrm>
          <a:prstGeom prst="rect">
            <a:avLst/>
          </a:prstGeom>
          <a:solidFill>
            <a:srgbClr val="F3F2F1"/>
          </a:solidFill>
          <a:ln w="9525">
            <a:solidFill>
              <a:srgbClr val="E1DF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0" y="4800600"/>
            <a:ext cx="2011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1B8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595360" y="4800600"/>
            <a:ext cx="2834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52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+ FCT covered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 NDHS  ·  Nigeria Child Anemia Analysis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64305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01B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52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Anemia Is Preventable — But Only If We Know Who Is Affected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94360" y="18745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52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21792" y="2359152"/>
            <a:ext cx="128016" cy="128016"/>
          </a:xfrm>
          <a:prstGeom prst="ellipse">
            <a:avLst/>
          </a:prstGeom>
          <a:solidFill>
            <a:srgbClr val="01B8A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12848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Anemia means a child's blood carries too little oxygen — usually from poor iron intake, malaria, frequent illness, or poor sanitation.</a:t>
            </a:r>
            <a:endParaRPr lang="en-US" sz="1180" dirty="0"/>
          </a:p>
        </p:txBody>
      </p:sp>
      <p:sp>
        <p:nvSpPr>
          <p:cNvPr id="7" name="Shape 5"/>
          <p:cNvSpPr/>
          <p:nvPr/>
        </p:nvSpPr>
        <p:spPr>
          <a:xfrm>
            <a:off x="621792" y="3200400"/>
            <a:ext cx="128016" cy="128016"/>
          </a:xfrm>
          <a:prstGeom prst="ellipse">
            <a:avLst/>
          </a:prstGeom>
          <a:solidFill>
            <a:srgbClr val="01B8AA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054096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Anemic children tire more easily and get sick more often.</a:t>
            </a:r>
            <a:endParaRPr lang="en-US" sz="1180" dirty="0"/>
          </a:p>
        </p:txBody>
      </p:sp>
      <p:sp>
        <p:nvSpPr>
          <p:cNvPr id="9" name="Shape 7"/>
          <p:cNvSpPr/>
          <p:nvPr/>
        </p:nvSpPr>
        <p:spPr>
          <a:xfrm>
            <a:off x="621792" y="4041648"/>
            <a:ext cx="128016" cy="128016"/>
          </a:xfrm>
          <a:prstGeom prst="ellipse">
            <a:avLst/>
          </a:prstGeom>
          <a:solidFill>
            <a:srgbClr val="01B8AA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895344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untreated, it can permanently affect brain development and learning.</a:t>
            </a:r>
            <a:endParaRPr lang="en-US" sz="1180" dirty="0"/>
          </a:p>
        </p:txBody>
      </p:sp>
      <p:sp>
        <p:nvSpPr>
          <p:cNvPr id="11" name="Shape 9"/>
          <p:cNvSpPr/>
          <p:nvPr/>
        </p:nvSpPr>
        <p:spPr>
          <a:xfrm>
            <a:off x="621792" y="4882896"/>
            <a:ext cx="128016" cy="128016"/>
          </a:xfrm>
          <a:prstGeom prst="ellipse">
            <a:avLst/>
          </a:prstGeom>
          <a:solidFill>
            <a:srgbClr val="01B8AA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4736592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one of the core child-health indicators tracked by WHO and UNICEF worldwide.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6309360" y="1874520"/>
            <a:ext cx="0" cy="4114800"/>
          </a:xfrm>
          <a:prstGeom prst="line">
            <a:avLst/>
          </a:prstGeom>
          <a:noFill/>
          <a:ln w="9525">
            <a:solidFill>
              <a:srgbClr val="E1DF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18745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52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was studied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537960" y="22860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B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used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37960" y="2560320"/>
            <a:ext cx="4937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Child's own anemia/hemoglobin result (kept separate from the mother's) — 10,182 records with a valid test.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37960" y="317296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B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37960" y="3447288"/>
            <a:ext cx="4937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SQL Server for cleaning/querying, Excel for pivot-table validation, Power BI for the final charts.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37960" y="4059936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B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37960" y="4334256"/>
            <a:ext cx="4937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Cross-tabulation with grouped averages: % anemic compared across wealth, education, location, and health-access groups.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37960" y="4946904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B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37960" y="5221224"/>
            <a:ext cx="4937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with no child test result excluded; anemia severities grouped into “Anemic” vs “Not anemic” for comparison.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 NDHS  ·  Nigeria Child Anemia Analysis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64305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01B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1 — OVERALL BURDEN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52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Nearly 7 in 10 Nigerian Children Under 5 Are Anemic</a:t>
            </a:r>
            <a:endParaRPr lang="en-US" sz="2500" dirty="0"/>
          </a:p>
        </p:txBody>
      </p:sp>
      <p:pic>
        <p:nvPicPr>
          <p:cNvPr id="4" name="Image 0" descr="/home/claude/charts/sever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6766560" cy="3383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863840" y="192024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1B8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68.8%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7863840" y="2578608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children under 5 tested anemic — any severity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7863840" y="365760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1B8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3.2%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7863840" y="4315968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Severe anemia — a medical emergency level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5742432"/>
            <a:ext cx="11064240" cy="0"/>
          </a:xfrm>
          <a:prstGeom prst="line">
            <a:avLst/>
          </a:prstGeom>
          <a:noFill/>
          <a:ln w="9525">
            <a:solidFill>
              <a:srgbClr val="E1DFD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587044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1B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 </a:t>
            </a:r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cases are Mild or Moderate (65.6% combined) — but even a small Severe share represents thousands of children nationally.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 NDHS  ·  Nigeria Child Anemia Analysis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64305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01B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2 — WEALTH &amp; EDUCATION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52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Poverty and Low Maternal Education Both Nearly Double Anemia Risk</a:t>
            </a:r>
            <a:endParaRPr lang="en-US" sz="2300" dirty="0"/>
          </a:p>
        </p:txBody>
      </p:sp>
      <p:pic>
        <p:nvPicPr>
          <p:cNvPr id="4" name="Image 0" descr="/home/claude/charts/wealth_educ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920240"/>
            <a:ext cx="10424160" cy="363931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742432"/>
            <a:ext cx="11064240" cy="0"/>
          </a:xfrm>
          <a:prstGeom prst="line">
            <a:avLst/>
          </a:prstGeom>
          <a:noFill/>
          <a:ln w="9525">
            <a:solidFill>
              <a:srgbClr val="E1DFD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587044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1B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 </a:t>
            </a:r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Poorest households: 79.5% anemic vs 53.5% in the richest (26-pt gap).  No formal education: 75.8% vs 49.0% for higher education (27-pt gap).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 NDHS  ·  Nigeria Child Anemia Analysis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64305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01B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3 — LOCATION &amp; RECENT ILLNESS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52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Rural Children and Recently-Sick Children Carry Higher Anemia Risk</a:t>
            </a:r>
            <a:endParaRPr lang="en-US" sz="2300" dirty="0"/>
          </a:p>
        </p:txBody>
      </p:sp>
      <p:pic>
        <p:nvPicPr>
          <p:cNvPr id="4" name="Image 0" descr="/home/claude/charts/residence_fe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920240"/>
            <a:ext cx="9509760" cy="2971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742432"/>
            <a:ext cx="11064240" cy="0"/>
          </a:xfrm>
          <a:prstGeom prst="line">
            <a:avLst/>
          </a:prstGeom>
          <a:noFill/>
          <a:ln w="9525">
            <a:solidFill>
              <a:srgbClr val="E1DFD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587044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1B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 </a:t>
            </a:r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Rural: 72.9% anemic vs 62.3% urban.  Recent fever: 76.9% vs 65.7% — infection is a major driver, not diet alone.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 NDHS  ·  Nigeria Child Anemia Analysis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64305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01B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4 — A DATA CAUTION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52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Bed Net and Iron Supplement Users Show No Lower Anemia Rate</a:t>
            </a:r>
            <a:endParaRPr lang="en-US" sz="2300" dirty="0"/>
          </a:p>
        </p:txBody>
      </p:sp>
      <p:pic>
        <p:nvPicPr>
          <p:cNvPr id="4" name="Image 0" descr="/home/claude/charts/bednet_ir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920240"/>
            <a:ext cx="9509760" cy="2971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742432"/>
            <a:ext cx="11064240" cy="0"/>
          </a:xfrm>
          <a:prstGeom prst="line">
            <a:avLst/>
          </a:prstGeom>
          <a:noFill/>
          <a:ln w="9525">
            <a:solidFill>
              <a:srgbClr val="E1DFD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587044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1B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 </a:t>
            </a:r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reverse targeting, not failure: nets and supplements are typically given where risk is already highest. This is not evidence that they don't work.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 NDHS  ·  Nigeria Child Anemia Analysis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64305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01B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5 — THE COMBINED EFFECT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155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2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Poor, Rural Children With Uneducated Mothers Face Nearly Double the Risk</a:t>
            </a:r>
            <a:endParaRPr lang="en-US" sz="2400" dirty="0"/>
          </a:p>
        </p:txBody>
      </p:sp>
      <p:pic>
        <p:nvPicPr>
          <p:cNvPr id="4" name="Image 0" descr="/home/claude/charts/compou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1828800"/>
            <a:ext cx="8686800" cy="3108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166360"/>
            <a:ext cx="11064240" cy="0"/>
          </a:xfrm>
          <a:prstGeom prst="line">
            <a:avLst/>
          </a:prstGeom>
          <a:noFill/>
          <a:ln w="9525">
            <a:solidFill>
              <a:srgbClr val="E1DFD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5321808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1B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 </a:t>
            </a:r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252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80.4%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</a:t>
            </a:r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01B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46.6%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a 34-point gap. Because wealth, education, and location overlap in the same families, this is a concentrated, targetable problem.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 NDHS  ·  Nigeria Child Anemia Analysis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64305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01B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2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Health Programmes Should Do Next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17830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B8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51560" y="17556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2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the combination, not one factor alone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2057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3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rural communities with high poverty AND low female education together — this is where risk compounds.</a:t>
            </a:r>
            <a:endParaRPr lang="en-US" sz="1130" dirty="0"/>
          </a:p>
        </p:txBody>
      </p:sp>
      <p:sp>
        <p:nvSpPr>
          <p:cNvPr id="7" name="Text 5"/>
          <p:cNvSpPr/>
          <p:nvPr/>
        </p:nvSpPr>
        <p:spPr>
          <a:xfrm>
            <a:off x="594360" y="26517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B8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2432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2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fever care with anemia screening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29260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3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fever is strongly linked to anemia; run malaria treatment and iron/anemia checks at the same clinic visit.</a:t>
            </a:r>
            <a:endParaRPr lang="en-US" sz="1130" dirty="0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B8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51560" y="349300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2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maternal health literacy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37947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3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education gap (27 pts) rivals the wealth gap — health knowledge matters nearly as much as income.</a:t>
            </a:r>
            <a:endParaRPr lang="en-US" sz="1130" dirty="0"/>
          </a:p>
        </p:txBody>
      </p:sp>
      <p:sp>
        <p:nvSpPr>
          <p:cNvPr id="13" name="Text 11"/>
          <p:cNvSpPr/>
          <p:nvPr/>
        </p:nvSpPr>
        <p:spPr>
          <a:xfrm>
            <a:off x="594360" y="43891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B8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51560" y="436168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2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Re-audit bed net &amp; supplement follow-up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4663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3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targeting looks correct, but needs compliance and dosage follow-up to actually lower anemia over time.</a:t>
            </a:r>
            <a:endParaRPr lang="en-US" sz="1130" dirty="0"/>
          </a:p>
        </p:txBody>
      </p:sp>
      <p:sp>
        <p:nvSpPr>
          <p:cNvPr id="16" name="Text 14"/>
          <p:cNvSpPr/>
          <p:nvPr/>
        </p:nvSpPr>
        <p:spPr>
          <a:xfrm>
            <a:off x="594360" y="52578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B8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51560" y="523036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2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severe cases for urgent treatment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55321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3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3.2% with Severe anemia need clinical care, not just prevention — make them traceable through routine visits.</a:t>
            </a:r>
            <a:endParaRPr lang="en-US" sz="113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 NDHS  ·  Nigeria Child Anemia Analysis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64305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188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01B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600200"/>
            <a:ext cx="10332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900" b="1" dirty="0">
                <a:solidFill>
                  <a:srgbClr val="252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Childhood Anemia in Nigeria Is Concentrated, Not Random —</a:t>
            </a:r>
            <a:endParaRPr lang="en-US" sz="29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2900" b="1" dirty="0">
                <a:solidFill>
                  <a:srgbClr val="252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That Makes It Solvable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22960" y="3291840"/>
            <a:ext cx="9692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child's risk of anemia is shaped less by chance than by three overlapping factors — household wealth, a mother's education, and rural location. Health programmes that target this specific, identifiable combination of communities can reach the children who need help the most, with the resources they already have.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4846320"/>
            <a:ext cx="914400" cy="32004"/>
          </a:xfrm>
          <a:prstGeom prst="rect">
            <a:avLst/>
          </a:prstGeom>
          <a:solidFill>
            <a:srgbClr val="01B8A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62636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2018 Nigeria Demographic and Health Survey (NDHS)  ·  Independent Data Analysis Project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2026-07-12T04:18:36Z</dcterms:created>
  <dcterms:modified xsi:type="dcterms:W3CDTF">2026-07-12T04:18:36Z</dcterms:modified>
</cp:coreProperties>
</file>